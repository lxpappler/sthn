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STHN: Deep Homography Estimation for</a:t>
            </a:r>
            <a:br/>
            <a:r>
              <a:t>UAV Thermal Geo-localization with Satellite Imagery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926080"/>
            <a:ext cx="484632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AEEF"/>
                </a:solidFill>
                <a:latin typeface="Calibri"/>
              </a:defRPr>
            </a:pPr>
            <a:r>
              <a:t>IEEE Robotics and Automation Letters (RA-L),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Jiuhong Xiao, Ning Zhang, Daniel Tortei, Giuseppe Loianno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NYU Agile Robotics &amp; Perception Lab (ARPL)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arXiv: 2405.20470  |  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Outline 报告提纲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研究背景与动机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方法总览 — STHN 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Method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粗对齐模块 (Coarse Alignment)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Feature Extraction &amp; Iterative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57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精细化模块 (Refinement)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Two-Stage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热图像生成模块 (TGM)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Thermal Generation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数据集与实验设置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54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Dataset &amp; Experimental 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03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实验结果与分析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303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52160"/>
            <a:ext cx="45720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52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852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Summary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研究背景与动机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UAV 热成像地理定位的挑战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GPS 拒止/干扰环境下需要视觉替代方案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热红外图像与 RGB 卫星图像存在巨大模态差异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夜间场景下 RGB 相机不可用，仅热成像可用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现有方法的不足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图像检索方法 (如 STGL) 精度有限 (仅到块级)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传统特征点匹配在跨模态下性能严重退化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缺少针对卫星-热图像对的 homography 估计方法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D2A0"/>
                </a:solidFill>
                <a:latin typeface="Calibri"/>
              </a:defRPr>
            </a:pPr>
            <a:r>
              <a:t>▸ 我们的解决方案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FFD700"/>
                </a:solidFill>
                <a:latin typeface="Calibri"/>
              </a:defRPr>
            </a:pPr>
            <a:r>
              <a:t>• 提出 STHN：首个针对 UAV 热-卫星图像的深度 homography 方法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实现亚像素级精度的跨模态地理定位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029200" cy="18288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卫星图 (RGB)</a:t>
            </a:r>
            <a:br/>
            <a:r>
              <a:t>↕ 模态差异</a:t>
            </a:r>
            <a:br/>
            <a:r>
              <a:t>热红外图 (Thermal)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57600"/>
            <a:ext cx="5029200" cy="13716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D2A0"/>
                </a:solidFill>
                <a:latin typeface="Calibri"/>
              </a:defRPr>
            </a:pPr>
            <a:r>
              <a:t>STHN: 通过 Deep Homography</a:t>
            </a:r>
            <a:br/>
            <a:r>
              <a:t>弥合跨模态差距 → 像素级定位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问题定义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输入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卫星 RGB 图像 I_s ∈ ℝ^(W_S × W_S × 3)  (如 512×512 或 1536×1536)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无人机热图像 I_t ∈ ℝ^(W × W × 1)  (Resize 到 256×256 → 复制为 3 通道)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输出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4-点位移 Δp ∈ ℝ^(2×2×2)  表示四个角点 (TL, TR, BL, BR) 的偏移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通过 DLT (Direct Linear Transformation) 求解 3×3 Homography 矩阵 H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损失函数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序列损失: L = Σᵢ γ^(N-i) · ||Δpᵢ - Δp_gt||₁  (γ = 0.8, 指数加权)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评价指标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MACE (Mean Average Corner Error): 四个角点的平均像素误差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MA (Metric Accuracy): 对应到实际地理距离 (米) 的定位精度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方法总览 — STHN 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Method Overview — STHN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BBBCC"/>
                </a:solidFill>
                <a:latin typeface="Calibri"/>
              </a:defRPr>
            </a:pPr>
            <a:r>
              <a:t>卫星图 I_s</a:t>
            </a:r>
            <a:br/>
            <a:r>
              <a:t>(W_S × W_S)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BBBCC"/>
                </a:solidFill>
                <a:latin typeface="Calibri"/>
              </a:defRPr>
            </a:pPr>
            <a:r>
              <a:t>Resize →</a:t>
            </a:r>
            <a:br/>
            <a:r>
              <a:t>(W × 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AEEF"/>
                </a:solidFill>
                <a:latin typeface="Calibri"/>
              </a:defRPr>
            </a:pPr>
            <a:r>
              <a:t>Feature</a:t>
            </a:r>
            <a:br/>
            <a:r>
              <a:t>Extractor</a:t>
            </a:r>
            <a:br/>
            <a:r>
              <a:t>(ResBlock ×4</a:t>
            </a:r>
            <a:br/>
            <a:r>
              <a:t>+ InstanceNorm)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AEEF"/>
                </a:solidFill>
                <a:latin typeface="Calibri"/>
              </a:defRPr>
            </a:pPr>
            <a:r>
              <a:t>Correlation</a:t>
            </a:r>
            <a:br/>
            <a:r>
              <a:t>Volume</a:t>
            </a:r>
            <a:br/>
            <a:r>
              <a:t>(Multi-level)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AEEF"/>
                </a:solidFill>
                <a:latin typeface="Calibri"/>
              </a:defRPr>
            </a:pPr>
            <a:r>
              <a:t>Iterative</a:t>
            </a:r>
            <a:br/>
            <a:r>
              <a:t>Updater</a:t>
            </a:r>
            <a:br/>
            <a:r>
              <a:t>(CNN + GN)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645920"/>
            <a:ext cx="1645920" cy="1645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D2A0"/>
                </a:solidFill>
                <a:latin typeface="Calibri"/>
              </a:defRPr>
            </a:pPr>
            <a:r>
              <a:t>4-Point</a:t>
            </a:r>
            <a:br/>
            <a:r>
              <a:t>Displacement</a:t>
            </a:r>
            <a:br/>
            <a:r>
              <a:t>Δp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657600"/>
            <a:ext cx="164592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BBBCC"/>
                </a:solidFill>
                <a:latin typeface="Calibri"/>
              </a:defRPr>
            </a:pPr>
            <a:r>
              <a:t>热红外图 I_t</a:t>
            </a:r>
            <a:br/>
            <a:r>
              <a:t>(W × 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EEF"/>
                </a:solidFill>
                <a:latin typeface="Calibri"/>
              </a:defRPr>
            </a:pPr>
            <a:r>
              <a:t>──────────────→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EEF"/>
                </a:solidFill>
                <a:latin typeface="Calibri"/>
              </a:defRPr>
            </a:pPr>
            <a:r>
              <a:t>核心组件: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① BasicEncoderQuarter: 残差块 + InstanceNorm, 输出 256 维特征 (1/4 分辨率)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② CorrBlock: 多级金字塔 correlation volume, 在 4-level pyramid 上计算特征相关性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③ Iterative Update (GMA/CNN): 6 次迭代更新, 每次预测残差位移 δΔp, 逐步精化 homography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④ DLT: kornia.geometry.transform.get_perspective_transform 求解 H 矩阵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粗对齐模块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Coarse-Level Alignment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4864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Feature Extractor — BasicEncoderQuarter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Conv2d(3→64, 7×7, stride=1) + InstanceNorm + ReLU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MaxPool(2×2) → 1/2 分辨率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ResidualBlock ×2 (64→64) + MaxPool → 1/4 分辨率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ResidualBlock ×2 (64→96)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Conv2d(96→256, 1×1) → 输出 256 维特征图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D700"/>
                </a:solidFill>
                <a:latin typeface="Calibri"/>
              </a:defRPr>
            </a:pPr>
            <a:r>
              <a:t>• 共享权重: 卫星图与热图使用同一 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4864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Iterative Updater — CNN_64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输入: Correlation + Flow (164/326/488 维)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5 层 Conv2d(3×3) + GroupNorm + ReLU + MaxPool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输出: 2 维残差位移 δΔp → reshape 为 (2,2,2)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00D2A0"/>
                </a:solidFill>
                <a:latin typeface="Calibri"/>
              </a:defRPr>
            </a:pPr>
            <a:r>
              <a:t>• Correlation Volume (CorrBlock):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- 对特征图构建多级 correlation pyramid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- 在 radius=4 邻域内采样 → (2r+1)² = 81 维/级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- corr_level=2: 81×2+2=164 | level=4: 81×4+2=326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Calibri"/>
              </a:defRPr>
            </a:pPr>
            <a:r>
              <a:t>迭代过程 (6 iterations):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Δp₀=0 → corr(coords) → δΔp₁ → Δp₁ → DLT→H₁ → warp coords → corr(coords') → δΔp₂ → Δp₂ → ... → Δp₆ (最终输出)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每次迭代利用更新后的 coords 重新计算 correlation，逐步逼近真实 homography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两阶段精细化模块 (W_S=1536)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Two-Stage Refinement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4864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Stage 1: 粗对齐 (Coarse Alignment)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卫星图 (1536×1536) → Resize (256×256)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热图 (256×256)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IHN 网络 (corr_level=4, 6 次迭代)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D700"/>
                </a:solidFill>
                <a:latin typeface="Calibri"/>
              </a:defRPr>
            </a:pPr>
            <a:r>
              <a:t>• 输出: 粗略 4-point displacement Δp_coarse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4864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Stage 2: 精细化 (Refinement)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根据 Δp_coarse 从原始卫星图 crop 对应区域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Crop → Resize (256×256) 得到更高分辨率输入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第二个 IHN 网络 (corr_level=2, 6 次迭代)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D700"/>
                </a:solidFill>
                <a:latin typeface="Calibri"/>
              </a:defRPr>
            </a:pPr>
            <a:r>
              <a:t>• 输出: 精细 Δp_fine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D2A0"/>
                </a:solidFill>
                <a:latin typeface="Calibri"/>
              </a:defRPr>
            </a:pPr>
            <a:r>
              <a:t>• 最终: Δp = Δp_fine × κ + flow_bbox / 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→→→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A0"/>
                </a:solidFill>
                <a:latin typeface="Calibri"/>
              </a:defRPr>
            </a:pPr>
            <a:r>
              <a:t>两阶段的优势: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Coarse 阶段: 大范围搜索，处理大的初始偏移 (W_S=1536 覆盖区域是 W_S=512 的 9 倍)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Refine 阶段: 在 crop 的高分辨率局部区域上精细化，显著提升定位精度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Coarse 模块训练完成后可冻结权重，仅训练 Refine 模块 (参数高效)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fine_padding 参数控制 crop 区域的额外边距 → 容纳粗对齐的误差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热图像生成模块 (TGM)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Thermal Generation Module —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动机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热红外配对数据稀缺且采集成本高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仅使用有限的训练数据容易过拟合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方案: Pix2Pix 风格 GAN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输入: 卫星 RGB 图像 (无需热图像配对)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输出: 生成的热图像 (合成训练数据)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Generator: UNet 结构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Discriminator: PatchGAN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AEEF"/>
                </a:solidFill>
                <a:latin typeface="Calibri"/>
              </a:defRPr>
            </a:pPr>
            <a:r>
              <a:t>▸ 数据增强策略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生成 extended_queries 覆盖更大区域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训练时交替使用真实与生成数据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FFD700"/>
                </a:solidFill>
                <a:latin typeface="Calibri"/>
              </a:defRPr>
            </a:pPr>
            <a:r>
              <a:t>• 生成数据排除测试区域，防止信息泄露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219456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BBBCC"/>
                </a:solidFill>
                <a:latin typeface="Calibri"/>
              </a:defRPr>
            </a:pPr>
            <a:r>
              <a:t>卫星 RGB 图像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AEE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2194560" cy="91440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TGM</a:t>
            </a:r>
            <a:br/>
            <a:r>
              <a:t>(Pix2Pix)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AEE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2194560" cy="9144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D2A0"/>
                </a:solidFill>
                <a:latin typeface="Calibri"/>
              </a:defRPr>
            </a:pPr>
            <a:r>
              <a:t>合成热图像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3464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AE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560320"/>
            <a:ext cx="2286000" cy="13716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扩展训练数据</a:t>
            </a:r>
            <a:br/>
            <a:r>
              <a:t>(extended_queries.h5)</a:t>
            </a:r>
            <a:br/>
            <a:r>
              <a:t>区域: 23,744m × 9,088m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数据集与实验结果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Dataset &amp;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EEF"/>
                </a:solidFill>
                <a:latin typeface="Calibri"/>
              </a:defRPr>
            </a:pPr>
            <a:r>
              <a:t>▸ Boson-nighttime 数据集 (扩展版)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6 次航拍飞行 (21:00 - 03:00)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3 次上半区域 + 3 次下半区域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下半区域: 训练集 + 验证集 / 上半区域: 测试集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数据格式: HDF5 (h5), 总计 122 GB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W_S=512 (标准) / W_S=1536 (大范围)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1247120" cy="45720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实验结果对比 (W_S=512)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EE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EEF"/>
                </a:solidFill>
                <a:latin typeface="Calibri"/>
              </a:defRPr>
            </a:pPr>
            <a:r>
              <a:t>MACE↓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EEF"/>
                </a:solidFill>
                <a:latin typeface="Calibri"/>
              </a:defRPr>
            </a:pPr>
            <a:r>
              <a:t>MA (m)↓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STGL (Image Retrieval)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Block-level (R@1)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~3.2m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LoFTR (Feature Matching)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&gt; STHN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R2D2 (Feature Matching)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&gt; STHN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STHN-One Stage (Ours)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低 MACE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更精确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STHN-Two Stage (Ours, 1536)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最低 MACE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最精确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Calibri"/>
              </a:defRPr>
            </a:pPr>
            <a:r>
              <a:t>Key Findings: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STHN 显著超越图像检索方法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两阶段 &gt; 单阶段 (更大搜索范围)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TGM 数据增强有效提升泛化性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Iterative update 收敛快 (6 次即可)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推理速度满足实时需求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Summary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4864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总结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提出 STHN: 首个面向 UAV 热-卫星图像的深度 homography 估计框架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创新性地结合 iterative correlation-based 估计与两阶段 coarse-to-fine 策略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引入 TGM (Pix2Pix) 实现跨模态数据增强，缓解训练数据不足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✓ 在 Boson-nighttime 数据集上实现 SOTA 性能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FFD700"/>
                </a:solidFill>
                <a:latin typeface="Calibri"/>
              </a:defRPr>
            </a:pPr>
            <a:r>
              <a:t>✓ 发表于 IEEE RA-L 2024, 代码与模型已开源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4864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展望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→ UASTHN: 加入不确定性估计 (Uncertainty-Aware)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→ 长距离地理定位 (STGL 后续工作)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→ 更多模态/场景的泛化能力验证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→ 端到端结合全局检索 + 局部对齐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→ 实际 UAV 平台部署与实验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EEF"/>
                </a:solidFill>
                <a:latin typeface="Calibri"/>
              </a:defRPr>
            </a:pPr>
            <a:r>
              <a:t>Resources &amp; Related Works: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Paper: arxiv.org/abs/2405.20470  |  Code: github.com/arplaboratory/STHN  |  Model: huggingface.co/xjh19972/STHN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STGL: Long-range UAV Thermal Geo-localization  |  UASTHN: Uncertainty-Aware Deep Homography 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